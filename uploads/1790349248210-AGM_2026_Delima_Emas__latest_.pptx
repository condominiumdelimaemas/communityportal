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71" r:id="rId6"/>
    <p:sldId id="262" r:id="rId7"/>
    <p:sldId id="263" r:id="rId8"/>
    <p:sldId id="274" r:id="rId9"/>
    <p:sldId id="273" r:id="rId10"/>
    <p:sldId id="272" r:id="rId11"/>
    <p:sldId id="265" r:id="rId12"/>
    <p:sldId id="275" r:id="rId13"/>
    <p:sldId id="27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Maintenance Account (RM)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C9-46D2-A42F-04F2180C42D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DC9-46D2-A42F-04F2180C42D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DC9-46D2-A42F-04F2180C42D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DC9-46D2-A42F-04F2180C42D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DC9-46D2-A42F-04F2180C42D6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DC9-46D2-A42F-04F2180C42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3A3F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607842.93000000005</c:v>
                </c:pt>
                <c:pt idx="1">
                  <c:v>652499.35</c:v>
                </c:pt>
                <c:pt idx="2">
                  <c:v>683744.23</c:v>
                </c:pt>
                <c:pt idx="3">
                  <c:v>685002.74</c:v>
                </c:pt>
                <c:pt idx="4">
                  <c:v>731333.8</c:v>
                </c:pt>
                <c:pt idx="5">
                  <c:v>680731.74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DC9-46D2-A42F-04F2180C42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F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Sinking Fund (RM)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FA-4B82-9309-3CA313A0B60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9FA-4B82-9309-3CA313A0B60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9FA-4B82-9309-3CA313A0B60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9FA-4B82-9309-3CA313A0B60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9FA-4B82-9309-3CA313A0B601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9FA-4B82-9309-3CA313A0B601}"/>
              </c:ext>
            </c:extLst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354884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F9FA-4B82-9309-3CA313A0B60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3A3F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201519.42</c:v>
                </c:pt>
                <c:pt idx="1">
                  <c:v>259805.14</c:v>
                </c:pt>
                <c:pt idx="2">
                  <c:v>318090.86</c:v>
                </c:pt>
                <c:pt idx="3">
                  <c:v>376376.58</c:v>
                </c:pt>
                <c:pt idx="4">
                  <c:v>434662.3</c:v>
                </c:pt>
                <c:pt idx="5">
                  <c:v>357948.02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9FA-4B82-9309-3CA313A0B6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F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8.3385796061763731E-2"/>
          <c:y val="3.5328879753340182E-2"/>
          <c:w val="0.89126318989767461"/>
          <c:h val="0.88851576219339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(RM)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9C68-4E89-8D91-8CFB5F36B0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0" i="0" u="none" strike="noStrike">
                    <a:solidFill>
                      <a:srgbClr val="2730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68733.5</c:v>
                </c:pt>
                <c:pt idx="1">
                  <c:v>49256.42</c:v>
                </c:pt>
                <c:pt idx="2">
                  <c:v>31244.85</c:v>
                </c:pt>
                <c:pt idx="3">
                  <c:v>5977.64</c:v>
                </c:pt>
                <c:pt idx="4">
                  <c:v>46331.06</c:v>
                </c:pt>
                <c:pt idx="5">
                  <c:v>-55850.06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31-4F3B-BA30-76774F055D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noFill/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Repair Cost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A6A-4B57-BFE7-20627EA66E1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A6A-4B57-BFE7-20627EA66E1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A6A-4B57-BFE7-20627EA66E1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A6A-4B57-BFE7-20627EA66E1D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A6A-4B57-BFE7-20627EA66E1D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6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6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6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2A6A-4B57-BFE7-20627EA66E1D}"/>
              </c:ext>
            </c:extLst>
          </c:dPt>
          <c:dLbls>
            <c:dLbl>
              <c:idx val="0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6A-4B57-BFE7-20627EA66E1D}"/>
                </c:ext>
              </c:extLst>
            </c:dLbl>
            <c:dLbl>
              <c:idx val="1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6A-4B57-BFE7-20627EA66E1D}"/>
                </c:ext>
              </c:extLst>
            </c:dLbl>
            <c:dLbl>
              <c:idx val="2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A6A-4B57-BFE7-20627EA66E1D}"/>
                </c:ext>
              </c:extLst>
            </c:dLbl>
            <c:dLbl>
              <c:idx val="3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A6A-4B57-BFE7-20627EA66E1D}"/>
                </c:ext>
              </c:extLst>
            </c:dLbl>
            <c:dLbl>
              <c:idx val="4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A6A-4B57-BFE7-20627EA66E1D}"/>
                </c:ext>
              </c:extLst>
            </c:dLbl>
            <c:dLbl>
              <c:idx val="5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A6A-4B57-BFE7-20627EA66E1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Rooftop repair</c:v>
                </c:pt>
                <c:pt idx="1">
                  <c:v>Lift equipment</c:v>
                </c:pt>
                <c:pt idx="2">
                  <c:v>Water tank</c:v>
                </c:pt>
                <c:pt idx="3">
                  <c:v>Depreciation of</c:v>
                </c:pt>
                <c:pt idx="4">
                  <c:v>Swimming pool</c:v>
                </c:pt>
                <c:pt idx="5">
                  <c:v>Level 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178200</c:v>
                </c:pt>
                <c:pt idx="1">
                  <c:v>34408</c:v>
                </c:pt>
                <c:pt idx="2">
                  <c:v>33300</c:v>
                </c:pt>
                <c:pt idx="3">
                  <c:v>28193</c:v>
                </c:pt>
                <c:pt idx="4">
                  <c:v>18850</c:v>
                </c:pt>
                <c:pt idx="5">
                  <c:v>18362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A6A-4B57-BFE7-20627EA66E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21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EE5E-2E0F-05B5-0757-F5768BF7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21945-1E18-86CA-877E-2BA79A15C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89C74-ED8F-6DA6-51AC-45D724765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5F1D9-AACF-68FE-FBF4-C69F9C4F7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85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001F-4790-57C3-1135-8F814B48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82449-17CC-8C00-0B81-7F9C66C8A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19F6C-83EF-EB5F-9FFE-537EAB1FF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6DB89-4133-24C5-C514-495A7D9D7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19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3B99-B609-D3A5-FE04-D565AD27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1747E-E2AF-CA8A-7BC4-4F824A13A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E900D-E32E-361A-B2D3-84310800C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65640-9DF5-C770-C08F-5979A311F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52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dominiumdelimaemas.github.io/communityportal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9082735" y="3566160"/>
            <a:ext cx="4754880" cy="4754880"/>
          </a:xfrm>
          <a:prstGeom prst="ellipse">
            <a:avLst/>
          </a:prstGeom>
          <a:solidFill>
            <a:srgbClr val="27305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259775" y="-1097280"/>
            <a:ext cx="2377440" cy="2377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GENERAL MEETING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AGM 2026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4224528"/>
            <a:ext cx="11887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26th September 2026  ·  Community Hall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Joint Management / Management Committee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5760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160020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Chairman's Address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459736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48640" y="24597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5296" y="249174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48640" y="33192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5296" y="33192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Sinking Fund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178808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48640" y="4178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25296" y="417880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Summary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48640" y="50383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5296" y="5038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&amp; Upgrade Works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355080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31736" y="160020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Arrears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55080" y="2459736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6355080" y="24597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31736" y="245973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Rules Update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355080" y="3319272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6355080" y="33192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31736" y="3319272"/>
            <a:ext cx="4957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/ Suggestions / Amendments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355080" y="4178808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6355080" y="4178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31736" y="417880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Highlights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355080" y="5038344"/>
            <a:ext cx="512064" cy="512064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6355080" y="50383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1736" y="5038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Business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5" grpId="1" animBg="1"/>
      <p:bldP spid="6" grpId="0"/>
      <p:bldP spid="6" grpId="1" animBg="1"/>
      <p:bldP spid="7" grpId="0"/>
      <p:bldP spid="7" grpId="1" animBg="1"/>
      <p:bldP spid="8" grpId="0"/>
      <p:bldP spid="9" grpId="0"/>
      <p:bldP spid="9" grpId="1" animBg="1"/>
      <p:bldP spid="10" grpId="0"/>
      <p:bldP spid="10" grpId="1" animBg="1"/>
      <p:bldP spid="11" grpId="0"/>
      <p:bldP spid="12" grpId="0"/>
      <p:bldP spid="12" grpId="1" animBg="1"/>
      <p:bldP spid="13" grpId="0"/>
      <p:bldP spid="14" grpId="0"/>
      <p:bldP spid="14" grpId="1" animBg="1"/>
      <p:bldP spid="15" grpId="0"/>
      <p:bldP spid="15" grpId="1" animBg="1"/>
      <p:bldP spid="16" grpId="0"/>
      <p:bldP spid="17" grpId="0"/>
      <p:bldP spid="17" grpId="1" animBg="1"/>
      <p:bldP spid="18" grpId="0"/>
      <p:bldP spid="18" grpId="1" animBg="1"/>
      <p:bldP spid="19" grpId="0"/>
      <p:bldP spid="19" grpId="1" animBg="1"/>
      <p:bldP spid="20" grpId="0"/>
      <p:bldP spid="21" grpId="0"/>
      <p:bldP spid="21" grpId="1" animBg="1"/>
      <p:bldP spid="22" grpId="0"/>
      <p:bldP spid="23" grpId="0"/>
      <p:bldP spid="23" grpId="1" animBg="1"/>
      <p:bldP spid="24" grpId="0"/>
      <p:bldP spid="24" grpId="1" animBg="1"/>
      <p:bldP spid="25" grpId="0"/>
      <p:bldP spid="25" grpId="1" animBg="1"/>
      <p:bldP spid="26" grpId="0"/>
      <p:bldP spid="27" grpId="0"/>
      <p:bldP spid="27" grpId="1" animBg="1"/>
      <p:bldP spid="28" grpId="0"/>
      <p:bldP spid="28" grpId="1" animBg="1"/>
      <p:bldP spid="29" grpId="0"/>
      <p:bldP spid="30" grpId="0"/>
      <p:bldP spid="30" grpId="1" animBg="1"/>
      <p:bldP spid="31" grpId="0"/>
      <p:bldP spid="31" grpId="1" animBg="1"/>
      <p:bldP spid="32" grpId="0"/>
      <p:bldP spid="33" grpId="0"/>
      <p:bldP spid="3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FINANCIAL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Account Balance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73288998"/>
              </p:ext>
            </p:extLst>
          </p:nvPr>
        </p:nvGraphicFramePr>
        <p:xfrm>
          <a:off x="548640" y="1600200"/>
          <a:ext cx="6492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86015" y="113792"/>
            <a:ext cx="4272585" cy="2273808"/>
          </a:xfrm>
          <a:prstGeom prst="rect">
            <a:avLst/>
          </a:prstGeom>
          <a:solidFill>
            <a:srgbClr val="141A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7528255" y="4206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BALANCE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488936" y="7406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680,731.74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488936" y="1700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 31 December 2025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77455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RM 50,602   −6.9% vs 2024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2514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14616" y="2852928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maintenance account grew steadily from 2020 to 2024, reaching a high of RM 731,333.80, before declining by RM 50,602 (6.9%) in 2025.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60920" y="43891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BALANCE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60920" y="462686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731,333.80  ·  2024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50292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MOVEMENT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60920" y="5303520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60920" y="5513832"/>
            <a:ext cx="813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+7.3%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0456" y="5303520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0456" y="5513832"/>
            <a:ext cx="813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+4.8%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79992" y="5303520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79992" y="5513832"/>
            <a:ext cx="813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+0.2%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939528" y="5303520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39528" y="5513832"/>
            <a:ext cx="813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+6.8%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99064" y="5303520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99064" y="5513832"/>
            <a:ext cx="813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−6.9%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5989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excludes fixed deposit savings of RM 300,000.00 (Maybank, placed 20 July 2019). Maintenance and Sinking Fund are held in separate accounts.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4" grpId="1">
        <p:bldAsOne/>
      </p:bldGraphic>
      <p:bldP spid="5" grpId="0"/>
      <p:bldP spid="5" grpId="1" animBg="1"/>
      <p:bldP spid="6" grpId="0"/>
      <p:bldP spid="6" grpId="1" animBg="1"/>
      <p:bldP spid="7" grpId="0"/>
      <p:bldP spid="7" grpId="1" animBg="1"/>
      <p:bldP spid="8" grpId="0"/>
      <p:bldP spid="8" grpId="1" animBg="1"/>
      <p:bldP spid="9" grpId="0"/>
      <p:bldP spid="9" grpId="1" animBg="1"/>
      <p:bldP spid="10" grpId="0"/>
      <p:bldP spid="10" grpId="1" animBg="1"/>
      <p:bldP spid="11" grpId="0"/>
      <p:bldP spid="11" grpId="1" animBg="1"/>
      <p:bldP spid="12" grpId="0"/>
      <p:bldP spid="12" grpId="1" animBg="1"/>
      <p:bldP spid="13" grpId="0"/>
      <p:bldP spid="13" grpId="1" animBg="1"/>
      <p:bldP spid="14" grpId="0"/>
      <p:bldP spid="14" grpId="1" animBg="1"/>
      <p:bldP spid="15" grpId="0"/>
      <p:bldP spid="15" grpId="1" animBg="1"/>
      <p:bldP spid="16" grpId="0"/>
      <p:bldP spid="16" grpId="1" animBg="1"/>
      <p:bldP spid="17" grpId="0"/>
      <p:bldP spid="17" grpId="1" animBg="1"/>
      <p:bldP spid="18" grpId="0"/>
      <p:bldP spid="18" grpId="1" animBg="1"/>
      <p:bldP spid="19" grpId="0"/>
      <p:bldP spid="19" grpId="1" animBg="1"/>
      <p:bldP spid="20" grpId="0"/>
      <p:bldP spid="20" grpId="1" animBg="1"/>
      <p:bldP spid="21" grpId="0"/>
      <p:bldP spid="21" grpId="1" animBg="1"/>
      <p:bldP spid="22" grpId="0"/>
      <p:bldP spid="22" grpId="1" animBg="1"/>
      <p:bldP spid="23" grpId="0"/>
      <p:bldP spid="23" grpId="1" animBg="1"/>
      <p:bldP spid="24" grpId="0"/>
      <p:bldP spid="24" grpId="1" animBg="1"/>
      <p:bldP spid="25" grpId="0"/>
      <p:bldP spid="2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FINANCIAL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964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Sinking Fund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41414154"/>
              </p:ext>
            </p:extLst>
          </p:nvPr>
        </p:nvGraphicFramePr>
        <p:xfrm>
          <a:off x="548640" y="160020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285496"/>
            <a:ext cx="3840480" cy="15544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7665415" y="3291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SINKING FUND BALANCE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65415" y="7660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354,884.02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772401" y="15636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 31 December 2025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1" y="3857244"/>
            <a:ext cx="4038600" cy="15544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7810654" y="4383024"/>
            <a:ext cx="39620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(RM 135,000.00)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C042A89-6404-2975-9CB4-32BD12F277BF}"/>
              </a:ext>
            </a:extLst>
          </p:cNvPr>
          <p:cNvSpPr/>
          <p:nvPr/>
        </p:nvSpPr>
        <p:spPr>
          <a:xfrm>
            <a:off x="7772400" y="1899412"/>
            <a:ext cx="3865880" cy="1927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RM135000 utilized for repair/replacement of building rooftop</a:t>
            </a:r>
          </a:p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during EGM on May 2025</a:t>
            </a: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4" grpId="1">
        <p:bldAsOne/>
      </p:bldGraphic>
      <p:bldP spid="5" grpId="0"/>
      <p:bldP spid="5" grpId="1" animBg="1"/>
      <p:bldP spid="6" grpId="0"/>
      <p:bldP spid="6" grpId="1" animBg="1"/>
      <p:bldP spid="7" grpId="0"/>
      <p:bldP spid="7" grpId="1" animBg="1"/>
      <p:bldP spid="8" grpId="0"/>
      <p:bldP spid="8" grpId="1" animBg="1"/>
      <p:bldP spid="9" grpId="0"/>
      <p:bldP spid="9" grpId="1" animBg="1"/>
      <p:bldP spid="11" grpId="0"/>
      <p:bldP spid="11" grpId="1" animBg="1"/>
      <p:bldP spid="12" grpId="0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5280"/>
            <a:ext cx="42875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FINANCIAL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Summary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12217945"/>
              </p:ext>
            </p:extLst>
          </p:nvPr>
        </p:nvGraphicFramePr>
        <p:xfrm>
          <a:off x="193040" y="1257808"/>
          <a:ext cx="6583680" cy="4075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59" name="ProfitBreakdown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474916"/>
              </p:ext>
            </p:extLst>
          </p:nvPr>
        </p:nvGraphicFramePr>
        <p:xfrm>
          <a:off x="6949440" y="1257808"/>
          <a:ext cx="5242560" cy="4196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2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4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Profit Breakdown by Source</a:t>
                      </a:r>
                    </a:p>
                  </a:txBody>
                  <a:tcPr marL="82296" marR="82296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2025</a:t>
                      </a:r>
                    </a:p>
                  </a:txBody>
                  <a:tcPr marL="82296" marR="82296" marT="27432" marB="27432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Balance — Maintenance Fee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itchFamily="34" charset="0"/>
                        </a:rPr>
                        <a:t>RM (76,720.37)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Access card &amp; motor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RM 4,600.00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Interest on fixed deposit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RM 3,664.97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Penalty imposed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RM 2,565.00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Rental — parking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RM 9,375.00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Rental — equipment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RM 200.00</a:t>
                      </a:r>
                    </a:p>
                  </a:txBody>
                  <a:tcPr marL="82296" marR="82296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TOTAL</a:t>
                      </a:r>
                    </a:p>
                  </a:txBody>
                  <a:tcPr marL="82296" marR="82296" marT="27432" marB="27432" anchor="ctr"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RM (55,850.06)</a:t>
                      </a:r>
                    </a:p>
                  </a:txBody>
                  <a:tcPr marL="82296" marR="82296" marT="27432" marB="27432" anchor="ctr">
                    <a:solidFill>
                      <a:srgbClr val="E8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SIGNIFICANT COST OF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&amp; Upgrade Works — 2025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8292" y="1720596"/>
            <a:ext cx="740664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74040" y="169164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repair / replacement of roof concrete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5989320" y="1691640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178,200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740664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89280" y="245567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equipment major breakdown</a:t>
            </a:r>
            <a:endParaRPr lang="en-US" b="1" dirty="0"/>
          </a:p>
        </p:txBody>
      </p:sp>
      <p:sp>
        <p:nvSpPr>
          <p:cNvPr id="9" name="Text 7"/>
          <p:cNvSpPr/>
          <p:nvPr/>
        </p:nvSpPr>
        <p:spPr>
          <a:xfrm>
            <a:off x="5989320" y="2404872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34,408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740664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58292" y="3118104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tank repair</a:t>
            </a:r>
            <a:endParaRPr lang="en-US" b="1" dirty="0"/>
          </a:p>
        </p:txBody>
      </p:sp>
      <p:sp>
        <p:nvSpPr>
          <p:cNvPr id="12" name="Text 10"/>
          <p:cNvSpPr/>
          <p:nvPr/>
        </p:nvSpPr>
        <p:spPr>
          <a:xfrm>
            <a:off x="5413502" y="3118104"/>
            <a:ext cx="149021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MAY-JUNE</a:t>
            </a:r>
            <a:endParaRPr lang="en-US" b="1" dirty="0"/>
          </a:p>
        </p:txBody>
      </p:sp>
      <p:sp>
        <p:nvSpPr>
          <p:cNvPr id="13" name="Text 11"/>
          <p:cNvSpPr/>
          <p:nvPr/>
        </p:nvSpPr>
        <p:spPr>
          <a:xfrm>
            <a:off x="5989320" y="3118104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33,300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740664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561340" y="384149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of fixed assets (furniture, renovation, electrical)</a:t>
            </a:r>
            <a:endParaRPr lang="en-US" b="1" dirty="0"/>
          </a:p>
        </p:txBody>
      </p:sp>
      <p:sp>
        <p:nvSpPr>
          <p:cNvPr id="16" name="Text 14"/>
          <p:cNvSpPr/>
          <p:nvPr/>
        </p:nvSpPr>
        <p:spPr>
          <a:xfrm>
            <a:off x="5413502" y="3831336"/>
            <a:ext cx="149021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b="1" dirty="0"/>
          </a:p>
        </p:txBody>
      </p:sp>
      <p:sp>
        <p:nvSpPr>
          <p:cNvPr id="17" name="Text 15"/>
          <p:cNvSpPr/>
          <p:nvPr/>
        </p:nvSpPr>
        <p:spPr>
          <a:xfrm>
            <a:off x="5989320" y="3831336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28,193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544568"/>
            <a:ext cx="740664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561340" y="4544568"/>
            <a:ext cx="54279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pool equipment repair</a:t>
            </a:r>
            <a:endParaRPr lang="en-US" b="1" dirty="0"/>
          </a:p>
        </p:txBody>
      </p:sp>
      <p:sp>
        <p:nvSpPr>
          <p:cNvPr id="20" name="Text 18"/>
          <p:cNvSpPr/>
          <p:nvPr/>
        </p:nvSpPr>
        <p:spPr>
          <a:xfrm>
            <a:off x="5989320" y="4544568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18,850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740664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94360" y="525780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ceiling repair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5989320" y="5257800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18,362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321040" y="1584960"/>
            <a:ext cx="3606800" cy="1478280"/>
          </a:xfrm>
          <a:prstGeom prst="rect">
            <a:avLst/>
          </a:prstGeom>
          <a:solidFill>
            <a:srgbClr val="141A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8549640" y="18470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2025 SPEND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49640" y="2103120"/>
            <a:ext cx="305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311,313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549640" y="2606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major repair &amp; upgrade items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3513840073"/>
              </p:ext>
            </p:extLst>
          </p:nvPr>
        </p:nvGraphicFramePr>
        <p:xfrm>
          <a:off x="8321040" y="3246120"/>
          <a:ext cx="3606800" cy="3191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4541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753D09A3-B3A5-1096-304F-30326C949E02}"/>
              </a:ext>
            </a:extLst>
          </p:cNvPr>
          <p:cNvSpPr/>
          <p:nvPr/>
        </p:nvSpPr>
        <p:spPr>
          <a:xfrm>
            <a:off x="5413502" y="2421128"/>
            <a:ext cx="17307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b="1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172A1EC6-AA79-E46A-E785-13DE25F9B851}"/>
              </a:ext>
            </a:extLst>
          </p:cNvPr>
          <p:cNvSpPr/>
          <p:nvPr/>
        </p:nvSpPr>
        <p:spPr>
          <a:xfrm>
            <a:off x="5509260" y="1614932"/>
            <a:ext cx="18745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b="1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A5A98CF6-E6F6-9C1A-A0D3-7C4BB1C422C5}"/>
              </a:ext>
            </a:extLst>
          </p:cNvPr>
          <p:cNvSpPr/>
          <p:nvPr/>
        </p:nvSpPr>
        <p:spPr>
          <a:xfrm>
            <a:off x="5395214" y="5289804"/>
            <a:ext cx="13944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b="1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EE62A692-8F4F-8F95-21BF-2081815DF375}"/>
              </a:ext>
            </a:extLst>
          </p:cNvPr>
          <p:cNvSpPr/>
          <p:nvPr/>
        </p:nvSpPr>
        <p:spPr>
          <a:xfrm>
            <a:off x="5447792" y="4515104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 animBg="1"/>
      <p:bldP spid="5" grpId="0"/>
      <p:bldP spid="5" grpId="1" animBg="1"/>
      <p:bldP spid="6" grpId="0"/>
      <p:bldP spid="6" grpId="1" animBg="1"/>
      <p:bldP spid="7" grpId="0"/>
      <p:bldP spid="7" grpId="1" animBg="1"/>
      <p:bldP spid="8" grpId="0"/>
      <p:bldP spid="8" grpId="1" animBg="1"/>
      <p:bldP spid="9" grpId="0"/>
      <p:bldP spid="9" grpId="1" animBg="1"/>
      <p:bldP spid="10" grpId="0"/>
      <p:bldP spid="10" grpId="1" animBg="1"/>
      <p:bldP spid="11" grpId="0"/>
      <p:bldP spid="11" grpId="1" animBg="1"/>
      <p:bldP spid="12" grpId="0"/>
      <p:bldP spid="12" grpId="1" animBg="1"/>
      <p:bldP spid="13" grpId="0"/>
      <p:bldP spid="13" grpId="1" animBg="1"/>
      <p:bldP spid="14" grpId="0"/>
      <p:bldP spid="14" grpId="1" animBg="1"/>
      <p:bldP spid="15" grpId="0"/>
      <p:bldP spid="15" grpId="1" animBg="1"/>
      <p:bldP spid="16" grpId="0"/>
      <p:bldP spid="16" grpId="1" animBg="1"/>
      <p:bldP spid="17" grpId="0"/>
      <p:bldP spid="17" grpId="1" animBg="1"/>
      <p:bldP spid="18" grpId="0"/>
      <p:bldP spid="18" grpId="1" animBg="1"/>
      <p:bldP spid="19" grpId="0"/>
      <p:bldP spid="19" grpId="1" animBg="1"/>
      <p:bldP spid="20" grpId="0"/>
      <p:bldP spid="20" grpId="1" animBg="1"/>
      <p:bldP spid="21" grpId="0"/>
      <p:bldP spid="21" grpId="1" animBg="1"/>
      <p:bldP spid="22" grpId="0"/>
      <p:bldP spid="22" grpId="1" animBg="1"/>
      <p:bldP spid="23" grpId="0"/>
      <p:bldP spid="23" grpId="1" animBg="1"/>
      <p:bldP spid="24" grpId="0"/>
      <p:bldP spid="24" grpId="1" animBg="1"/>
      <p:bldP spid="25" grpId="0"/>
      <p:bldP spid="25" grpId="1" animBg="1"/>
      <p:bldP spid="26" grpId="0"/>
      <p:bldP spid="26" grpId="1" animBg="1"/>
      <p:bldP spid="27" grpId="0"/>
      <p:bldP spid="27" grpId="1" animBg="1"/>
      <p:bldP spid="28" grpId="0"/>
      <p:bldGraphic spid="28" grpId="1">
        <p:bldAsOne/>
      </p:bldGraphic>
      <p:bldP spid="31" grpId="0"/>
      <p:bldP spid="31" grpId="1" animBg="1"/>
      <p:bldP spid="32" grpId="0"/>
      <p:bldP spid="32" grpId="1" animBg="1"/>
      <p:bldP spid="33" grpId="0"/>
      <p:bldP spid="33" grpId="1" animBg="1"/>
      <p:bldP spid="34" grpId="0"/>
      <p:bldP spid="3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FINANCIAL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 Arrears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 December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737360"/>
          </a:xfrm>
          <a:prstGeom prst="rect">
            <a:avLst/>
          </a:prstGeom>
          <a:solidFill>
            <a:srgbClr val="141A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OUTSTANDING</a:t>
            </a:r>
            <a:endParaRPr lang="en-US" sz="1050" dirty="0"/>
          </a:p>
          <a:p>
            <a:pPr marL="0" indent="0">
              <a:buNone/>
            </a:pPr>
            <a:r>
              <a:rPr lang="en-US" sz="105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FEE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36,232.45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involved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7178040" cy="65836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663440" y="1810512"/>
            <a:ext cx="420624" cy="42062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4663440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16916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Repaying via agreed payment arrangement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4840" y="2478024"/>
            <a:ext cx="7178040" cy="65836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4663440" y="2596896"/>
            <a:ext cx="420624" cy="4206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4663440" y="2596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47802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09360" y="2478024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lawyer for legal proceedings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434840" y="3291840"/>
            <a:ext cx="7178040" cy="65836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4663440" y="338328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4663440" y="3383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326440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09360" y="3264408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with 1st notice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434840" y="4059936"/>
            <a:ext cx="7178040" cy="65836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4663440" y="4169664"/>
            <a:ext cx="420624" cy="420624"/>
          </a:xfrm>
          <a:prstGeom prst="ellipse">
            <a:avLst/>
          </a:prstGeom>
          <a:solidFill>
            <a:srgbClr val="C978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466344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405079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09360" y="4050792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with 2nd notice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3"/>
                                  </p:tgtEl>
                                </p:cBhvr>
                              </p:animEffec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5"/>
                                  </p:tgtEl>
                                </p:cBhvr>
                              </p:animEffec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6"/>
                                  </p:tgtEl>
                                </p:cBhvr>
                              </p:animEffec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7"/>
                                  </p:tgtEl>
                                </p:cBhvr>
                              </p:animEffec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500"/>
                                  <p:tgtEl>
                                    <p:spTgt spid="18"/>
                                  </p:tgtEl>
                                </p:cBhvr>
                              </p:animEffec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19"/>
                                  </p:tgtEl>
                                </p:cBhvr>
                              </p:animEffec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0"/>
                                  </p:tgtEl>
                                </p:cBhvr>
                              </p:animEffec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21"/>
                                  </p:tgtEl>
                                </p:cBhvr>
                              </p:animEffec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22"/>
                                  </p:tgtEl>
                                </p:cBhvr>
                              </p:animEffec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23"/>
                                  </p:tgtEl>
                                </p:cBhvr>
                              </p:animEffec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500"/>
                                  <p:tgtEl>
                                    <p:spTgt spid="24"/>
                                  </p:tgtEl>
                                </p:cBhvr>
                              </p:animEffec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25"/>
                                  </p:tgtEl>
                                </p:cBhvr>
                              </p:animEffec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26"/>
                                  </p:tgtEl>
                                </p:cBhvr>
                              </p:animEffec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27"/>
                                  </p:tgtEl>
                                </p:cBhvr>
                              </p:animEffec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0309F-EF40-1F9F-73B5-46AF9359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05BA12-0FBC-B56B-CE9C-EA8CB4751713}"/>
              </a:ext>
            </a:extLst>
          </p:cNvPr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FINANCIAL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8DA365-AEE9-EA79-EAD4-A9952EC2A92C}"/>
              </a:ext>
            </a:extLst>
          </p:cNvPr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 Arrears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A3C9D3-B9E6-2A83-45B9-FEEC58B6519B}"/>
              </a:ext>
            </a:extLst>
          </p:cNvPr>
          <p:cNvSpPr/>
          <p:nvPr/>
        </p:nvSpPr>
        <p:spPr>
          <a:xfrm>
            <a:off x="566928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 Aug2026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F30088-F9BA-0339-BFB3-668441FE404F}"/>
              </a:ext>
            </a:extLst>
          </p:cNvPr>
          <p:cNvSpPr/>
          <p:nvPr/>
        </p:nvSpPr>
        <p:spPr>
          <a:xfrm>
            <a:off x="548640" y="1691640"/>
            <a:ext cx="3566160" cy="1737360"/>
          </a:xfrm>
          <a:prstGeom prst="rect">
            <a:avLst/>
          </a:prstGeom>
          <a:solidFill>
            <a:srgbClr val="141A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768C6F-377A-420E-9E8F-C3038E61DBDC}"/>
              </a:ext>
            </a:extLst>
          </p:cNvPr>
          <p:cNvSpPr/>
          <p:nvPr/>
        </p:nvSpPr>
        <p:spPr>
          <a:xfrm>
            <a:off x="777240" y="18470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OUTSTANDING</a:t>
            </a:r>
            <a:endParaRPr lang="en-US" sz="1400" dirty="0"/>
          </a:p>
          <a:p>
            <a:pPr marL="0" indent="0">
              <a:buNone/>
            </a:pPr>
            <a:r>
              <a:rPr lang="en-US" sz="140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FEE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ED8C91-1ECD-F906-62EF-D09483256B6A}"/>
              </a:ext>
            </a:extLst>
          </p:cNvPr>
          <p:cNvSpPr/>
          <p:nvPr/>
        </p:nvSpPr>
        <p:spPr>
          <a:xfrm>
            <a:off x="77724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57,957.39</a:t>
            </a:r>
            <a:endParaRPr lang="en-US" sz="3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9AE5213-B041-55D6-1C37-CE31550BBF9E}"/>
              </a:ext>
            </a:extLst>
          </p:cNvPr>
          <p:cNvSpPr/>
          <p:nvPr/>
        </p:nvSpPr>
        <p:spPr>
          <a:xfrm>
            <a:off x="7772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units involved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C36192-E7E3-A379-03D1-6A6B8B6A039B}"/>
              </a:ext>
            </a:extLst>
          </p:cNvPr>
          <p:cNvSpPr/>
          <p:nvPr/>
        </p:nvSpPr>
        <p:spPr>
          <a:xfrm>
            <a:off x="4434840" y="1691640"/>
            <a:ext cx="7178040" cy="65836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1BCCF7C-A7A8-9830-E00F-1AB43F0F2F8F}"/>
              </a:ext>
            </a:extLst>
          </p:cNvPr>
          <p:cNvSpPr/>
          <p:nvPr/>
        </p:nvSpPr>
        <p:spPr>
          <a:xfrm>
            <a:off x="4663440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E171A1E-91AB-CBAA-464C-183807492DCB}"/>
              </a:ext>
            </a:extLst>
          </p:cNvPr>
          <p:cNvSpPr/>
          <p:nvPr/>
        </p:nvSpPr>
        <p:spPr>
          <a:xfrm>
            <a:off x="4434840" y="169164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proceed to tribunal court for selected case</a:t>
            </a:r>
            <a:endParaRPr lang="en-US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E9F4832-8B7B-5141-A50E-C1A84090F5CE}"/>
              </a:ext>
            </a:extLst>
          </p:cNvPr>
          <p:cNvSpPr/>
          <p:nvPr/>
        </p:nvSpPr>
        <p:spPr>
          <a:xfrm>
            <a:off x="4663440" y="2596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081F20A-F2C9-B43E-6E7E-FF87158DCB8D}"/>
              </a:ext>
            </a:extLst>
          </p:cNvPr>
          <p:cNvSpPr/>
          <p:nvPr/>
        </p:nvSpPr>
        <p:spPr>
          <a:xfrm>
            <a:off x="4663440" y="3383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8FEA9B5-6736-8267-BF20-8C699A949BF6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C8596CB-8B5E-7DB3-5BEB-D0F3AF482D44}"/>
              </a:ext>
            </a:extLst>
          </p:cNvPr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7734152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804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Proposal/Suggestions/</a:t>
            </a:r>
            <a:r>
              <a:rPr lang="en-US" sz="36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Ammendment</a:t>
            </a:r>
            <a:endParaRPr lang="en-US" sz="3600" b="1" kern="0" spc="300" dirty="0">
              <a:solidFill>
                <a:srgbClr val="C9A2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House Rules/Bylaw Updates</a:t>
            </a:r>
            <a:endParaRPr lang="en-US" sz="300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621792" y="1518463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MY" sz="3200" b="1" dirty="0">
                <a:hlinkClick r:id="rId3"/>
              </a:rPr>
              <a:t>https://condominiumdelimaemas.github.io/communityportal/</a:t>
            </a:r>
            <a:endParaRPr lang="en-MY" sz="3200" b="1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D5AC77-F798-6C82-74A2-8422BBB50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986" y="2125980"/>
            <a:ext cx="4333708" cy="3611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AD54CB-CAB4-EDB9-3A9D-DD72EEA1AA03}"/>
              </a:ext>
            </a:extLst>
          </p:cNvPr>
          <p:cNvSpPr txBox="1"/>
          <p:nvPr/>
        </p:nvSpPr>
        <p:spPr>
          <a:xfrm>
            <a:off x="1168400" y="1756648"/>
            <a:ext cx="787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MY" sz="3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7407-1730-40DE-0BC4-BDD3C759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46265C-99C5-2C0F-2F71-308F8E5F5D6F}"/>
              </a:ext>
            </a:extLst>
          </p:cNvPr>
          <p:cNvSpPr/>
          <p:nvPr/>
        </p:nvSpPr>
        <p:spPr>
          <a:xfrm>
            <a:off x="548640" y="292608"/>
            <a:ext cx="9804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Proposal/Suggestions/Amendment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696A76-E13B-C201-63A1-A3CC179CD1E7}"/>
              </a:ext>
            </a:extLst>
          </p:cNvPr>
          <p:cNvSpPr/>
          <p:nvPr/>
        </p:nvSpPr>
        <p:spPr>
          <a:xfrm>
            <a:off x="1473200" y="53492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MY" sz="3200" dirty="0"/>
              <a:t>2025 AGM Residents' Proposals — Recap</a:t>
            </a:r>
            <a:endParaRPr lang="en-US" sz="3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7EB6034-B1DE-7827-A2EF-54F98A42468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7A16667-F263-0BF2-92D6-04F09C7052E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0" name="Subtitle 20"/>
          <p:cNvSpPr/>
          <p:nvPr/>
        </p:nvSpPr>
        <p:spPr>
          <a:xfrm>
            <a:off x="548640" y="1414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raised and voted on by residents at the 2025 AGM (27 September 2025) — carried forward for a 2026 status update</a:t>
            </a:r>
            <a:endParaRPr lang="en-US" sz="1100" dirty="0"/>
          </a:p>
        </p:txBody>
      </p:sp>
      <p:graphicFrame>
        <p:nvGraphicFramePr>
          <p:cNvPr id="21" name="Proposals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97394"/>
              </p:ext>
            </p:extLst>
          </p:nvPr>
        </p:nvGraphicFramePr>
        <p:xfrm>
          <a:off x="0" y="1019556"/>
          <a:ext cx="12192000" cy="5781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6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#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Resident Proposal (2025 AGM)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Proposed By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2025 Vote Result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2026 Status Update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29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Allow foreign professionals to rent units, subject to compliance with by-laws and house rules; revoke the blanket restriction on foreign tenants.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MC 3-19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48 for / 18 against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(Approved)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/>
                        <a:t>Approved. Subject to proper documentation and compliance with the applicable by-laws and House rules. The relevant requirements shall be referred to the House Rules, with confirmation to be obtained from management office</a:t>
                      </a:r>
                      <a:endParaRPr sz="1400" dirty="0"/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Allow residents to install Invisible Grille at balconies, subject to MC-approved specifications (material, colour, design).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MC 7-19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54 for / 12 against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(Approved)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/>
                        <a:t>Approved. The installation of invisible grille at balconies is subject to the specification approved by the MC and will be incorporated into the House Rules / By law updates.</a:t>
                      </a:r>
                      <a:endParaRPr sz="1400" dirty="0"/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29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Allow residents to install Bamboo Roller Blinds (or similar sunshade material) at balconies, subject to MC-approved specifications.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MC 7-19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54 for / 12 against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(Approved)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Approved. Residents are allowed to install bamboo roller blinds subject to specifications approved by the MC. The approved requirements will be incorporated into the House Rules/By-laws updates.</a:t>
                      </a:r>
                    </a:p>
                    <a:p>
                      <a:pPr marL="0" indent="0" algn="l">
                        <a:buNone/>
                      </a:pPr>
                      <a:endParaRPr sz="1400" dirty="0"/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44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Install Electric Vehicle (EV) charging facility within the condominium premises.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MC 3A-19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49 for / 17 against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(Approved)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/>
                        <a:t>At present, the installation of an EV charger is not considered an immediate necessity due to the limited </a:t>
                      </a:r>
                      <a:r>
                        <a:rPr lang="en-US" sz="1400" dirty="0" err="1"/>
                        <a:t>avaibility</a:t>
                      </a:r>
                      <a:r>
                        <a:rPr lang="en-US" sz="1400" dirty="0"/>
                        <a:t> of suitable space within the condominium premises and the high installation and maintenance cost.</a:t>
                      </a:r>
                      <a:endParaRPr sz="1400" dirty="0"/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Utilise available profit in the Maintenance Account to cover the upcoming 3 months of 2025 maintenance expenses, due to insufficient fund balance.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MC 2-11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59 for / 7 against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</a:rPr>
                        <a:t>(Approved)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/>
                        <a:t>Approved with total expenses for the three month period with amount RM144,000 based on average month maintenance expenditure of RM48,000</a:t>
                      </a:r>
                      <a:endParaRPr sz="1400" dirty="0"/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43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PROPOSAL / SUGGESTIONS / AMENDMENTS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Discount for One-Year Advance Payment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Proposal: The Management Committee proposes a 5% discount on maintenance fees for parcel owners who pay one full year in advance, to be implemented for a one-year trial period.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99716"/>
            <a:ext cx="5074920" cy="3429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TERMS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895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1024128" y="27614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5% on maintenance fees, only applies to maintenance fee.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364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1024128" y="32369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full one-year maintenance fee paid in advance (From January to December)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024128" y="37124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one-year trial period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3159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024128" y="41879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Sinking fund and other charges are not included in the discount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9145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1024128" y="4663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with outstanding arrears must settle them before qualifying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26694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24128" y="51389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 will be reviewed after one year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286000"/>
            <a:ext cx="5074920" cy="3429000"/>
          </a:xfrm>
          <a:prstGeom prst="rect">
            <a:avLst/>
          </a:prstGeom>
          <a:solidFill>
            <a:srgbClr val="141A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172200" y="245059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293522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373368" y="28072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early and timely payment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53872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6373368" y="341071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outstanding maintenance fee arrears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414223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6373368" y="40142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Management Corporation's cash flow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474573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6373368" y="4617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owners who make advance payment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4" grpId="1" animBg="1"/>
      <p:bldP spid="5" grpId="0"/>
      <p:bldP spid="5" grpId="1" animBg="1"/>
      <p:bldP spid="6" grpId="0"/>
      <p:bldP spid="6" grpId="1" animBg="1"/>
      <p:bldP spid="7" grpId="0"/>
      <p:bldP spid="8" grpId="0"/>
      <p:bldP spid="8" grpId="1" animBg="1"/>
      <p:bldP spid="9" grpId="0"/>
      <p:bldP spid="10" grpId="0"/>
      <p:bldP spid="10" grpId="1" animBg="1"/>
      <p:bldP spid="11" grpId="0"/>
      <p:bldP spid="12" grpId="0"/>
      <p:bldP spid="12" grpId="1" animBg="1"/>
      <p:bldP spid="13" grpId="0"/>
      <p:bldP spid="14" grpId="0"/>
      <p:bldP spid="14" grpId="1" animBg="1"/>
      <p:bldP spid="15" grpId="0"/>
      <p:bldP spid="16" grpId="0"/>
      <p:bldP spid="16" grpId="1" animBg="1"/>
      <p:bldP spid="17" grpId="0"/>
      <p:bldP spid="18" grpId="0"/>
      <p:bldP spid="18" grpId="1" animBg="1"/>
      <p:bldP spid="19" grpId="0"/>
      <p:bldP spid="19" grpId="1" animBg="1"/>
      <p:bldP spid="20" grpId="0"/>
      <p:bldP spid="20" grpId="1" animBg="1"/>
      <p:bldP spid="21" grpId="0"/>
      <p:bldP spid="22" grpId="0"/>
      <p:bldP spid="22" grpId="1" animBg="1"/>
      <p:bldP spid="23" grpId="0"/>
      <p:bldP spid="24" grpId="0"/>
      <p:bldP spid="24" grpId="1" animBg="1"/>
      <p:bldP spid="25" grpId="0"/>
      <p:bldP spid="26" grpId="0"/>
      <p:bldP spid="26" grpId="1" animBg="1"/>
      <p:bldP spid="27" grpId="0"/>
      <p:bldP spid="28" grpId="0"/>
      <p:bldP spid="2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5ECF6-7F58-FF35-7961-4544BB5A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366A2D-5A3B-CD20-4902-A55C88B9E1ED}"/>
              </a:ext>
            </a:extLst>
          </p:cNvPr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PROPOSAL / SUGGESTIONS / AMENDMENTS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7B99F0-6844-ECF8-990F-0C94C87A950A}"/>
              </a:ext>
            </a:extLst>
          </p:cNvPr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Motorcycle park at car park area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2E1876-FB7A-DD89-2473-0DB8E38E6EFB}"/>
              </a:ext>
            </a:extLst>
          </p:cNvPr>
          <p:cNvSpPr/>
          <p:nvPr/>
        </p:nvSpPr>
        <p:spPr>
          <a:xfrm>
            <a:off x="548640" y="1417320"/>
            <a:ext cx="10424160" cy="1031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MY" dirty="0"/>
              <a:t>The Management Committee proposes to allow </a:t>
            </a:r>
            <a:r>
              <a:rPr lang="en-MY" b="1" dirty="0"/>
              <a:t>motorcycles with an engine capacity of 600cc and above</a:t>
            </a:r>
            <a:r>
              <a:rPr lang="en-MY" dirty="0"/>
              <a:t>, owned by residents with a valid </a:t>
            </a:r>
            <a:r>
              <a:rPr lang="en-MY" b="1" dirty="0"/>
              <a:t>B Full motorcycle licence</a:t>
            </a:r>
            <a:r>
              <a:rPr lang="en-MY" dirty="0"/>
              <a:t>, to be parked at the </a:t>
            </a:r>
            <a:r>
              <a:rPr lang="en-MY" b="1" dirty="0"/>
              <a:t>resident's allocated car park bay</a:t>
            </a:r>
            <a:r>
              <a:rPr lang="en-MY" dirty="0"/>
              <a:t>, subject to Management approval.</a:t>
            </a:r>
            <a:endParaRPr lang="en-US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3E788DC-F5CB-02F0-D10F-102AC091414C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5D8142F-C1E1-185E-E302-DEEE1893B98B}"/>
              </a:ext>
            </a:extLst>
          </p:cNvPr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59141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9BB75-4A2C-68F7-68F3-A7D2B5A6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0CD413-07FB-9934-DB92-B8EB525DE611}"/>
              </a:ext>
            </a:extLst>
          </p:cNvPr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PROPOSAL / SUGGESTIONS / AMENDMENTS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C07407-6C27-4B2F-65C9-B9A4F4C7FCD3}"/>
              </a:ext>
            </a:extLst>
          </p:cNvPr>
          <p:cNvSpPr/>
          <p:nvPr/>
        </p:nvSpPr>
        <p:spPr>
          <a:xfrm>
            <a:off x="548640" y="65836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Motorcycle park at car park area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EFB327-0CA5-B7ED-1329-E685E6D449FD}"/>
              </a:ext>
            </a:extLst>
          </p:cNvPr>
          <p:cNvSpPr/>
          <p:nvPr/>
        </p:nvSpPr>
        <p:spPr>
          <a:xfrm>
            <a:off x="548640" y="1225296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MY" dirty="0"/>
              <a:t>The Management Committee proposes to allow </a:t>
            </a:r>
            <a:r>
              <a:rPr lang="en-MY" b="1" dirty="0"/>
              <a:t>motorcycles with an engine capacity of 600cc and above</a:t>
            </a:r>
            <a:r>
              <a:rPr lang="en-MY" dirty="0"/>
              <a:t>, owned by residents with a valid </a:t>
            </a:r>
            <a:r>
              <a:rPr lang="en-MY" b="1" dirty="0"/>
              <a:t>B Full motorcycle licence</a:t>
            </a:r>
            <a:r>
              <a:rPr lang="en-MY" dirty="0"/>
              <a:t>, to be parked at the </a:t>
            </a:r>
            <a:r>
              <a:rPr lang="en-MY" b="1" dirty="0"/>
              <a:t>resident's allocated car park bay</a:t>
            </a:r>
            <a:r>
              <a:rPr lang="en-MY" dirty="0"/>
              <a:t>, subject to Management approval.</a:t>
            </a:r>
            <a:endParaRPr lang="en-US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2584AC3-CE5E-A9D2-24B8-A4D0E0F30CD2}"/>
              </a:ext>
            </a:extLst>
          </p:cNvPr>
          <p:cNvSpPr/>
          <p:nvPr/>
        </p:nvSpPr>
        <p:spPr>
          <a:xfrm>
            <a:off x="505738" y="2295144"/>
            <a:ext cx="11137621" cy="35163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C821865-5C4A-7D83-6152-511520521076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8F93762-CD89-9839-1DC6-3FEB08B72073}"/>
              </a:ext>
            </a:extLst>
          </p:cNvPr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0FFF65-3465-ECD0-11D4-BC604A501DFD}"/>
              </a:ext>
            </a:extLst>
          </p:cNvPr>
          <p:cNvSpPr txBox="1"/>
          <p:nvPr/>
        </p:nvSpPr>
        <p:spPr>
          <a:xfrm>
            <a:off x="671261" y="2577572"/>
            <a:ext cx="108065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b="1" dirty="0"/>
              <a:t>Proposed Conditions</a:t>
            </a:r>
          </a:p>
          <a:p>
            <a:pPr>
              <a:buNone/>
            </a:pPr>
            <a:endParaRPr lang="en-MY" b="1" dirty="0"/>
          </a:p>
          <a:p>
            <a:pPr marL="342900" lvl="0" indent="-342900">
              <a:buFont typeface="+mj-lt"/>
              <a:buAutoNum type="arabicPeriod"/>
            </a:pPr>
            <a:r>
              <a:rPr lang="en-MY" dirty="0"/>
              <a:t>The motorcycle owner must hold a valid </a:t>
            </a:r>
            <a:r>
              <a:rPr lang="en-MY" b="1" dirty="0"/>
              <a:t>B Full motorcycle licence</a:t>
            </a:r>
            <a:r>
              <a:rPr lang="en-MY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MY" dirty="0"/>
              <a:t>The motorcycle must be legally registered and road-legal.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MY" dirty="0"/>
              <a:t>Only 1 motorcycle shall be parked </a:t>
            </a:r>
            <a:r>
              <a:rPr lang="en-MY" b="1" dirty="0"/>
              <a:t>within the owner's existing allocated car park bay</a:t>
            </a:r>
            <a:r>
              <a:rPr lang="en-MY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MY" dirty="0"/>
              <a:t>The motorcycle must not be parked in visitor parking, common areas, emergency access areas, pedestrian walkways or other unauthorised locations.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MY" dirty="0"/>
              <a:t>The arrangement is subject to </a:t>
            </a:r>
            <a:r>
              <a:rPr lang="en-MY" b="1" dirty="0"/>
              <a:t>prior approval from the Management</a:t>
            </a:r>
            <a:r>
              <a:rPr lang="en-MY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MY" dirty="0"/>
              <a:t>The Management may impose reasonable conditions or withdraw approval if the parking causes obstruction, safety concerns or nuisance.</a:t>
            </a:r>
          </a:p>
        </p:txBody>
      </p:sp>
    </p:spTree>
    <p:extLst>
      <p:ext uri="{BB962C8B-B14F-4D97-AF65-F5344CB8AC3E}">
        <p14:creationId xmlns:p14="http://schemas.microsoft.com/office/powerpoint/2010/main" val="10944495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4" grpId="1" animBg="1"/>
      <p:bldP spid="19" grpId="0"/>
      <p:bldP spid="1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10637215" y="5303520"/>
            <a:ext cx="2011680" cy="2011680"/>
          </a:xfrm>
          <a:prstGeom prst="ellipse">
            <a:avLst/>
          </a:prstGeom>
          <a:solidFill>
            <a:srgbClr val="27305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COMMUNITY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Highlights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&amp; Aktiviti Delima Emas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02920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804672" y="26334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0467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6334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Celebrations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highlights to be added by the Management Committee.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377440"/>
            <a:ext cx="502920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6199632" y="26334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19963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6334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Gotong-Royong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108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highlights to be added by the Management Committee.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02920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804672" y="43708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80467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370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Recreation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846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highlights to be added by the Management Committee.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4114800"/>
            <a:ext cx="502920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6199632" y="43708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619963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4370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Engagement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846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highlights to be added by the Management Committee.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10637215" y="5303520"/>
            <a:ext cx="2011680" cy="2011680"/>
          </a:xfrm>
          <a:prstGeom prst="ellipse">
            <a:avLst/>
          </a:prstGeom>
          <a:solidFill>
            <a:srgbClr val="27305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· Management Committee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3291840" cy="3291840"/>
          </a:xfrm>
          <a:prstGeom prst="ellipse">
            <a:avLst/>
          </a:prstGeom>
          <a:solidFill>
            <a:srgbClr val="E2E6F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10637215" y="5303520"/>
            <a:ext cx="2011680" cy="2011680"/>
          </a:xfrm>
          <a:prstGeom prst="ellipse">
            <a:avLst/>
          </a:prstGeom>
          <a:solidFill>
            <a:srgbClr val="DCE1E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5093208" y="1508760"/>
            <a:ext cx="2011680" cy="2011680"/>
          </a:xfrm>
          <a:prstGeom prst="ellipse">
            <a:avLst/>
          </a:prstGeom>
          <a:solidFill>
            <a:srgbClr val="F4F6FA"/>
          </a:solidFill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093208" y="15087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Any Other Business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1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Hal-Hal Berbangkit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Business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KONDOMINIUM DELIMA EMAS  |  AGM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1353</Words>
  <Application>Microsoft Office PowerPoint</Application>
  <PresentationFormat>Widescreen</PresentationFormat>
  <Paragraphs>274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Wan, Hafiz/TPM(MY)/Hafiz Wan(Production1 CAP Specialist)</cp:lastModifiedBy>
  <cp:revision>5</cp:revision>
  <dcterms:created xsi:type="dcterms:W3CDTF">2026-09-18T09:32:49Z</dcterms:created>
  <dcterms:modified xsi:type="dcterms:W3CDTF">2026-09-25T14:58:38Z</dcterms:modified>
</cp:coreProperties>
</file>